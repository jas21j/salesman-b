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926080"/>
            <a:ext cx="6400800" cy="4114800"/>
          </a:xfrm>
          <a:prstGeom prst="ellipse">
            <a:avLst/>
          </a:prstGeom>
          <a:solidFill>
            <a:srgbClr val="C9A96E">
              <a:alpha val="12000"/>
            </a:srgbClr>
          </a:solidFill>
          <a:ln w="12700">
            <a:solidFill>
              <a:srgbClr val="C9A9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68680"/>
            <a:ext cx="2560320" cy="274320"/>
          </a:xfrm>
          <a:prstGeom prst="rect">
            <a:avLst>
              <a:gd name="adj" fmla="val 50000"/>
            </a:avLst>
          </a:prstGeom>
          <a:solidFill>
            <a:srgbClr val="253461"/>
          </a:solidFill>
          <a:ln w="12700">
            <a:solidFill>
              <a:srgbClr val="3D4F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5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Salesman</a:t>
            </a:r>
            <a:endParaRPr lang="en-US" sz="6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Solutions</a:t>
            </a:r>
            <a:endParaRPr lang="en-US" sz="68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18288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930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Systems. Driven by Results.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Brand Identity Profile  ·  Visual • Verbal • Personality • Content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183880" y="201168"/>
            <a:ext cx="548640" cy="548640"/>
          </a:xfrm>
          <a:prstGeom prst="rect">
            <a:avLst>
              <a:gd name="adj" fmla="val 13333"/>
            </a:avLst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01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9A9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1E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Identity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1E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 ·  Typography  ·  Logo  ·  Layout  ·  Imagery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 ·  VISUAL IDENTITY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Palette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1280160" cy="1828800"/>
          </a:xfrm>
          <a:prstGeom prst="rect">
            <a:avLst/>
          </a:prstGeom>
          <a:solidFill>
            <a:srgbClr val="2B3A67"/>
          </a:solidFill>
          <a:ln w="12700">
            <a:solidFill>
              <a:srgbClr val="2B3A6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3154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A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#2B3A67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34198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3639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usage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3858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Headlines, cards, text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746504" y="1261872"/>
            <a:ext cx="1280160" cy="18288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46504" y="3154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A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#1E2A4A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46504" y="34198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Deep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46504" y="3639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usage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746504" y="3858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CTA sections, footer overlay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172968" y="1261872"/>
            <a:ext cx="1280160" cy="1828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72968" y="3154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A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#1A1A2E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72968" y="34198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Charcoal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72968" y="3639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usage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172968" y="3858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background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99432" y="1261872"/>
            <a:ext cx="1280160" cy="18288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99432" y="1417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PRIMARY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99432" y="3154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A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#C9A96E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99432" y="34198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99432" y="3639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usage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99432" y="3858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CTAs, stats, icons, rule lines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25896" y="1261872"/>
            <a:ext cx="1280160" cy="1828800"/>
          </a:xfrm>
          <a:prstGeom prst="rect">
            <a:avLst/>
          </a:prstGeom>
          <a:solidFill>
            <a:srgbClr val="F5F0E8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25896" y="3154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A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#F5F0E8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25896" y="34198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25896" y="3639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 usage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025896" y="3858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section background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452360" y="1261872"/>
            <a:ext cx="1280160" cy="1828800"/>
          </a:xfrm>
          <a:prstGeom prst="rect">
            <a:avLst/>
          </a:prstGeom>
          <a:solidFill>
            <a:srgbClr val="FDFBF7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52360" y="3154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A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#FDFBF7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52360" y="34198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52360" y="36393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usage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452360" y="3858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 &amp; case studies bg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associations: Trust  ·  Premium  ·  Authority  ·  Warmth  ·  Ambition  ·  Precision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 ·  VISUAL IDENTITY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Typography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33375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0136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Salesman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Headline Font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400–800  ·  Letter-spacing: −0.04em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H1, H2, logo wordmark, doctrine numbers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114800" cy="3337560"/>
          </a:xfrm>
          <a:prstGeom prst="rect">
            <a:avLst/>
          </a:prstGeom>
          <a:solidFill>
            <a:srgbClr val="F5F0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0600" y="180136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systems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00600" y="32918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/ UI Font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300–600  ·  Line-height: 1.6–1.8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body, nav, captions, labels, CTAs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 H1 clamp(3–7.5rem) 800wt · H2 clamp(28–48px) 700wt · Body 14–17px 400wt · Label 11–12px 600wt UPPERCASE +tracking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 ·  VISUAL IDENTITY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Logo &amp; Iconography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914400" cy="914400"/>
          </a:xfrm>
          <a:prstGeom prst="rect">
            <a:avLst>
              <a:gd name="adj" fmla="val 10000"/>
            </a:avLst>
          </a:prstGeom>
          <a:solidFill>
            <a:srgbClr val="2B3A67"/>
          </a:solidFill>
          <a:ln w="12700">
            <a:solidFill>
              <a:srgbClr val="2B3A67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0020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A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Salesman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00200" y="18470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B3A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4206240" cy="13716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971800"/>
            <a:ext cx="685800" cy="685800"/>
          </a:xfrm>
          <a:prstGeom prst="rect">
            <a:avLst>
              <a:gd name="adj" fmla="val 9333"/>
            </a:avLst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71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91640" y="31363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Salesman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26080" y="31363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C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92040" y="1417320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2984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Combination mark — square icon with bold 'S' initial + weighted wordmark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92040" y="1993392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shape: Rounded-corner square (border-radius 8px) in Navy or Gold depending on context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92040" y="2569464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450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Wordmark: 'Salesman' (bold 700) + 'Solutions' (light 400 / opacity 0.7) — split weight treatment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3145536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026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colors: Navy on light backgrounds · Gold on dark backgrounds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3721608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602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Iconography elsewhere: Gold SVG arrows (→) used on all service card CTAs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4297680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41788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numbers: Large ghost-opacity gold numerals (52px, opacity ~20%) behind doctrine cards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4873752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4754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motif: Glass panels (rgba white, ~4% opacity) + radial gold glows as ambient decoration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 ·  VISUAL IDENTITY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 &amp; Visual Personality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" cy="320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Full-Bleed Hero Image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21208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photo fills 100vh; layered gradient (navy → transparent) creates depth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984248"/>
            <a:ext cx="54864" cy="320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892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Sandwich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1208" y="2167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hero → Cream tagline → White services → Sand feature → Navy doctrine → White founder → Cream cases → Navy CTA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2596896"/>
            <a:ext cx="54864" cy="320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Card-heavy Grid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1208" y="27797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cards use 3/4 aspect-ratio portrait cards with gradient overlays; case study cards white on cream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209544"/>
            <a:ext cx="54864" cy="320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118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Generous Padding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1208" y="3392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100–120px vertical padding per section; content maxes at 1200–1320px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822192"/>
            <a:ext cx="54864" cy="320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730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Panels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1208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 step cards: rgba(255,255,255,0.04) glass with 1px rgba border, backdrop-filter blur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4434840"/>
            <a:ext cx="54864" cy="3200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4343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Progress Bars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1208" y="4617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doctrine card shows a gold progress bar (16.6% → 100%) indicating step completion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09160" y="12070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Personality Scores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16642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←→ Luxury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1883664"/>
            <a:ext cx="402336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883664"/>
            <a:ext cx="3017520" cy="1645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18653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7.5/10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09160" y="22128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←→ Innovative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2432304"/>
            <a:ext cx="402336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432304"/>
            <a:ext cx="2816352" cy="1645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2414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09160" y="27614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←→ Bold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2980944"/>
            <a:ext cx="402336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980944"/>
            <a:ext cx="3017520" cy="1645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0" y="296265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7.5/10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09160" y="3310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Playful ←→ Serious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9160" y="3529584"/>
            <a:ext cx="402336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3529584"/>
            <a:ext cx="3419856" cy="1645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0" y="35112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8.5/10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09160" y="385876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←→ Rich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4078224"/>
            <a:ext cx="402336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4078224"/>
            <a:ext cx="2816352" cy="1645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40599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09160" y="44074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←→ Warm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09160" y="4626864"/>
            <a:ext cx="4023360" cy="16459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4626864"/>
            <a:ext cx="2816352" cy="1645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78240" y="460857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09160" y="4663440"/>
            <a:ext cx="731520" cy="256032"/>
          </a:xfrm>
          <a:prstGeom prst="rect">
            <a:avLst>
              <a:gd name="adj" fmla="val 21429"/>
            </a:avLst>
          </a:prstGeom>
          <a:solidFill>
            <a:srgbClr val="2B3A67"/>
          </a:solidFill>
          <a:ln w="12700">
            <a:solidFill>
              <a:srgbClr val="2B3A6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4663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Prestigious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513832" y="4663440"/>
            <a:ext cx="731520" cy="256032"/>
          </a:xfrm>
          <a:prstGeom prst="rect">
            <a:avLst>
              <a:gd name="adj" fmla="val 21429"/>
            </a:avLst>
          </a:prstGeom>
          <a:solidFill>
            <a:srgbClr val="2B3A67"/>
          </a:solidFill>
          <a:ln w="12700">
            <a:solidFill>
              <a:srgbClr val="2B3A6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13832" y="4663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318504" y="4663440"/>
            <a:ext cx="731520" cy="256032"/>
          </a:xfrm>
          <a:prstGeom prst="rect">
            <a:avLst>
              <a:gd name="adj" fmla="val 21429"/>
            </a:avLst>
          </a:prstGeom>
          <a:solidFill>
            <a:srgbClr val="2B3A67"/>
          </a:solidFill>
          <a:ln w="12700">
            <a:solidFill>
              <a:srgbClr val="2B3A6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18504" y="4663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123176" y="4663440"/>
            <a:ext cx="731520" cy="256032"/>
          </a:xfrm>
          <a:prstGeom prst="rect">
            <a:avLst>
              <a:gd name="adj" fmla="val 21429"/>
            </a:avLst>
          </a:prstGeom>
          <a:solidFill>
            <a:srgbClr val="2B3A67"/>
          </a:solidFill>
          <a:ln w="12700">
            <a:solidFill>
              <a:srgbClr val="2B3A6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23176" y="4663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927848" y="4663440"/>
            <a:ext cx="731520" cy="256032"/>
          </a:xfrm>
          <a:prstGeom prst="rect">
            <a:avLst>
              <a:gd name="adj" fmla="val 21429"/>
            </a:avLst>
          </a:prstGeom>
          <a:solidFill>
            <a:srgbClr val="2B3A67"/>
          </a:solidFill>
          <a:ln w="12700">
            <a:solidFill>
              <a:srgbClr val="2B3A6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27848" y="4663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Verbal Identity</a:t>
            </a:r>
            <a:endParaRPr lang="en-US" sz="5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 ·  Tone  ·  Vocabulary  ·  Grammar  ·  Rhetoric  ·  CTAs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 ·  VERBAL IDENTITY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Voice &amp; Tone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13232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103120" y="1335024"/>
            <a:ext cx="4937760" cy="146304"/>
          </a:xfrm>
          <a:prstGeom prst="rect">
            <a:avLst/>
          </a:prstGeom>
          <a:solidFill>
            <a:srgbClr val="E5E0D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98464" y="1298448"/>
            <a:ext cx="109728" cy="21945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280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Playful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03120" y="1929384"/>
            <a:ext cx="4937760" cy="146304"/>
          </a:xfrm>
          <a:prstGeom prst="rect">
            <a:avLst/>
          </a:prstGeom>
          <a:solidFill>
            <a:srgbClr val="E5E0D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98464" y="1892808"/>
            <a:ext cx="109728" cy="21945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874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2468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32320" y="2468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03120" y="2523744"/>
            <a:ext cx="4937760" cy="146304"/>
          </a:xfrm>
          <a:prstGeom prst="rect">
            <a:avLst/>
          </a:prstGeom>
          <a:solidFill>
            <a:srgbClr val="E5E0D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17136" y="2487168"/>
            <a:ext cx="109728" cy="21945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24688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" y="3063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Sarcastic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32320" y="3063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03120" y="3118104"/>
            <a:ext cx="4937760" cy="146304"/>
          </a:xfrm>
          <a:prstGeom prst="rect">
            <a:avLst/>
          </a:prstGeom>
          <a:solidFill>
            <a:srgbClr val="E5E0D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3081528"/>
            <a:ext cx="109728" cy="21945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3063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5760" y="3657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32320" y="3657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103120" y="3712464"/>
            <a:ext cx="4937760" cy="146304"/>
          </a:xfrm>
          <a:prstGeom prst="rect">
            <a:avLst/>
          </a:prstGeom>
          <a:solidFill>
            <a:srgbClr val="E5E0D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45352" y="3675888"/>
            <a:ext cx="109728" cy="21945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657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8.5/10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65760" y="4251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32320" y="4251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Approachable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03120" y="4306824"/>
            <a:ext cx="4937760" cy="146304"/>
          </a:xfrm>
          <a:prstGeom prst="rect">
            <a:avLst/>
          </a:prstGeom>
          <a:solidFill>
            <a:srgbClr val="E5E0D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10912" y="4270248"/>
            <a:ext cx="109728" cy="21945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4251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65760" y="4617720"/>
            <a:ext cx="841248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"We identify inefficiencies, build standardized workflows..."  ·  "...we engineer how environments function."  ·  "Reactive maintenance is 3–5× more expensive than structured triage."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 ·  VERBAL IDENTITY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Vocabulary &amp; Language 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56616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21208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Systems-first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3774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3703320"/>
            <a:ext cx="9144000" cy="1440180"/>
          </a:xfrm>
          <a:prstGeom prst="rect">
            <a:avLst/>
          </a:prstGeom>
          <a:solidFill>
            <a:srgbClr val="131D36"/>
          </a:solidFill>
          <a:ln w="12700">
            <a:solidFill>
              <a:srgbClr val="131D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 10–12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43342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Level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920240" y="3886200"/>
            <a:ext cx="18288" cy="822960"/>
          </a:xfrm>
          <a:prstGeom prst="rect">
            <a:avLst/>
          </a:prstGeom>
          <a:solidFill>
            <a:srgbClr val="253461"/>
          </a:solidFill>
          <a:ln w="12700">
            <a:solidFill>
              <a:srgbClr val="2534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48256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15–22 words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48256" y="43342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Length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94176" y="3886200"/>
            <a:ext cx="18288" cy="822960"/>
          </a:xfrm>
          <a:prstGeom prst="rect">
            <a:avLst/>
          </a:prstGeom>
          <a:solidFill>
            <a:srgbClr val="253461"/>
          </a:solidFill>
          <a:ln w="12700">
            <a:solidFill>
              <a:srgbClr val="2534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22192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emojis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22192" y="43342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Usage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68112" y="3886200"/>
            <a:ext cx="18288" cy="822960"/>
          </a:xfrm>
          <a:prstGeom prst="rect">
            <a:avLst/>
          </a:prstGeom>
          <a:solidFill>
            <a:srgbClr val="253461"/>
          </a:solidFill>
          <a:ln w="12700">
            <a:solidFill>
              <a:srgbClr val="2534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96128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Title Case CTAs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96128" y="43342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Style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242048" y="3886200"/>
            <a:ext cx="18288" cy="822960"/>
          </a:xfrm>
          <a:prstGeom prst="rect">
            <a:avLst/>
          </a:prstGeom>
          <a:solidFill>
            <a:srgbClr val="253461"/>
          </a:solidFill>
          <a:ln w="12700">
            <a:solidFill>
              <a:srgbClr val="2534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70064" y="38587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/ You / Your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70064" y="43342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POV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 ·  VERBAL IDENTITY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Rhetorical Patterns &amp; CTAs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4114800" cy="1435608"/>
          </a:xfrm>
          <a:prstGeom prst="rect">
            <a:avLst/>
          </a:prstGeom>
          <a:solidFill>
            <a:srgbClr val="F5F0E8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98448"/>
            <a:ext cx="64008" cy="14356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26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via Process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75564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frameworks (01–06) position the brand as methodical. "Doctrine" signals a codified operating system, not a preference.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54880" y="1298448"/>
            <a:ext cx="4114800" cy="1435608"/>
          </a:xfrm>
          <a:prstGeom prst="rect">
            <a:avLst/>
          </a:prstGeom>
          <a:solidFill>
            <a:srgbClr val="F5F0E8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98448"/>
            <a:ext cx="64008" cy="14356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426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Data-Forward Social Proof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19472" y="175564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jobs, 90%+, &lt;48hr response, 30+ luxury units. Metrics replace testimonials — numbers speak louder than quotes.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4114800" cy="1435608"/>
          </a:xfrm>
          <a:prstGeom prst="rect">
            <a:avLst/>
          </a:prstGeom>
          <a:solidFill>
            <a:srgbClr val="F5F0E8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71216"/>
            <a:ext cx="64008" cy="14356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Framing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32841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 'Unique by doctrine. Connected by systems.' sets up the differentiation before any feature is listed.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2871216"/>
            <a:ext cx="4114800" cy="1435608"/>
          </a:xfrm>
          <a:prstGeom prst="rect">
            <a:avLst/>
          </a:prstGeom>
          <a:solidFill>
            <a:srgbClr val="F5F0E8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71216"/>
            <a:ext cx="64008" cy="1435608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Redefinition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332841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don't just complete tasks — we engineer how environments function." Reframes the competitive category entirely.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4498848"/>
            <a:ext cx="8412480" cy="5943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498848"/>
            <a:ext cx="73152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5537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CTAs:  "Request Assessment"  ·  "View Our System"  →  Direct Imperative Commands  ·  Gold buttons on Navy deep, Navy text on Gold pill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9A9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1E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Brand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1E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Personality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 ·  Archetype  ·  Customer Relationship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 ·  BRAND PERSONALITY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Salesman Solutions Were a Person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45720" cy="25603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98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as: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965960" y="129844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young, focused Jamaican-born operator who built credibility through execution, not pitch. Disciplined, data-driven, equally comfortable in a hotel lobby or on a job site.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883664"/>
            <a:ext cx="45720" cy="25603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65960" y="1828800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navy-toned pickup truck. Professional enough for hospitality clients, durable enough for property maintenance.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2414016"/>
            <a:ext cx="45720" cy="25603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59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dinner party: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65960" y="2359152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precisely. Leads with results, not enthusiasm. Redirects vague conversation to specific measurable outcomes.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45720" cy="25603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95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Passionate about: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65960" y="2889504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chaos into frameworks. Documenting the work so it can scale. Proving that operational excellence is a form of artistry.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45720" cy="25603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198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never say: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65960" y="3419856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"Let's figure it out as we go." or "That's good enough." or "We'll improvise."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4005072"/>
            <a:ext cx="45720" cy="25603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950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say: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65960" y="3950208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person you call when something is broken and you need it fixed — permanently, not temporarily."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4535424"/>
            <a:ext cx="45720" cy="25603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4805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Excited by: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65960" y="4480560"/>
            <a:ext cx="6812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market, a new property, a new engagement that lets him package another operational playbook.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 ·  BRAND PERSONALITY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3A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Relationship with the Customer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114800" cy="109728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61872"/>
            <a:ext cx="64008" cy="109728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53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Solver  ★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673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Enters with a diagnosis, not a pitch. Audit first, execute second. Every case study proves this.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754880" y="1261872"/>
            <a:ext cx="4114800" cy="109728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261872"/>
            <a:ext cx="64008" cy="109728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353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Figure  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19472" y="16733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6-step Doctrine + data-led case studies establish expertise before trust is asked for.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496312"/>
            <a:ext cx="4114800" cy="109728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96312"/>
            <a:ext cx="64008" cy="109728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Mentor/Guide  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9077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9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The Doctor framework educates before prescribing — reveals inefficiency so client sees the need.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249631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496312"/>
            <a:ext cx="64008" cy="109728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Partner/Collaborator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29077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Emerging: 9-month LiveBetter engagement and embedded operations point toward long-term partnership.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73075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730752"/>
            <a:ext cx="64008" cy="109728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822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Friend/Peer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" y="41422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primary. Tone is warm but decidedly professional — personal but never casual.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373075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730752"/>
            <a:ext cx="64008" cy="109728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822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Cheerleader/Supporter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41422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Absent. Brand doesn't inspire broadly — it solves specifically and documents the proof.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B3A67"/>
          </a:solidFill>
          <a:ln w="12700">
            <a:solidFill>
              <a:srgbClr val="2B3A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955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B3A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&amp;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B3A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B3A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 ·  Formats  ·  Social Proof  · 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  ·  CONTENT &amp; COMMUNICATION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3A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Pillars &amp; Formats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517904" cy="25603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151790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5331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75488" y="1783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2423160"/>
            <a:ext cx="12984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thinking, structured frameworks, 6-step doctrine. The intellectual core and differentiator.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48256" y="1234440"/>
            <a:ext cx="1517904" cy="2560320"/>
          </a:xfrm>
          <a:prstGeom prst="rect">
            <a:avLst/>
          </a:prstGeom>
          <a:solidFill>
            <a:srgbClr val="F5F0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8256" y="1234440"/>
            <a:ext cx="151790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135331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57984" y="1783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&amp; Hospitality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57984" y="2423160"/>
            <a:ext cx="12984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environments as platforms: inspection, maintenance, turnover, luxury supply.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730752" y="1234440"/>
            <a:ext cx="1517904" cy="2560320"/>
          </a:xfrm>
          <a:prstGeom prst="rect">
            <a:avLst/>
          </a:prstGeom>
          <a:solidFill>
            <a:srgbClr val="F5F0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0752" y="1234440"/>
            <a:ext cx="151790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135331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40480" y="1783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Journey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0" y="2423160"/>
            <a:ext cx="12984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Kingston → FSU → Tallahassee → Hospitality → Digital. Narrative of built-from-zero credibility.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13248" y="1234440"/>
            <a:ext cx="1517904" cy="2560320"/>
          </a:xfrm>
          <a:prstGeom prst="rect">
            <a:avLst/>
          </a:prstGeom>
          <a:solidFill>
            <a:srgbClr val="F5F0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1234440"/>
            <a:ext cx="151790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22976" y="135331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22976" y="1783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Infrastructure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22976" y="2423160"/>
            <a:ext cx="12984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dashboards, automation. Technology as an ops layer — not a separate product identity.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095744" y="1234440"/>
            <a:ext cx="1517904" cy="2560320"/>
          </a:xfrm>
          <a:prstGeom prst="rect">
            <a:avLst/>
          </a:prstGeom>
          <a:solidFill>
            <a:srgbClr val="F5F0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5744" y="1234440"/>
            <a:ext cx="1517904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135331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05472" y="178308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Operations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05472" y="2423160"/>
            <a:ext cx="12984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documented as case studies: First Mile, LiveBetter, Saatva, Miss Scholastic.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65760" y="3931920"/>
            <a:ext cx="8412480" cy="1078992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931920"/>
            <a:ext cx="73152" cy="10789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case studies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3342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A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ops with problem / approach / outcome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651760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Doctrine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51760" y="43342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A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frameworks give every section a spine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54880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Stat callouts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43342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A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 4+  50+  30+ — evidence over enthusiasm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858000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Layout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58000" y="43342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7A8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side-by-side or contrasting two worlds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  ·  CONTENT &amp; COMMUNICATION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Proof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2011680" cy="3200400"/>
          </a:xfrm>
          <a:prstGeom prst="rect">
            <a:avLst/>
          </a:prstGeom>
          <a:solidFill>
            <a:srgbClr val="141D36"/>
          </a:solidFill>
          <a:ln w="12700">
            <a:solidFill>
              <a:srgbClr val="2534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61872"/>
            <a:ext cx="201168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37160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48056" y="1609344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First Mile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8056" y="22402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150+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Jobs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8056" y="324612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re-delivery Q4  ·  3 retail pipelines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68880" y="1261872"/>
            <a:ext cx="2011680" cy="3200400"/>
          </a:xfrm>
          <a:prstGeom prst="rect">
            <a:avLst/>
          </a:prstGeom>
          <a:solidFill>
            <a:srgbClr val="141D36"/>
          </a:solidFill>
          <a:ln w="12700">
            <a:solidFill>
              <a:srgbClr val="2534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261872"/>
            <a:ext cx="201168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37160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2022–23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96896" y="1609344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LiveBetter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96896" y="22402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&lt;48hr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96896" y="324612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days → &lt;48hr  ·  9-month engagement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261872"/>
            <a:ext cx="2011680" cy="3200400"/>
          </a:xfrm>
          <a:prstGeom prst="rect">
            <a:avLst/>
          </a:prstGeom>
          <a:solidFill>
            <a:srgbClr val="141D36"/>
          </a:solidFill>
          <a:ln w="12700">
            <a:solidFill>
              <a:srgbClr val="2534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261872"/>
            <a:ext cx="201168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37160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45736" y="1609344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Saatva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45736" y="22402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30+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745736" y="324612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on-time  ·  Wyndham, Hilton, Marriott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766560" y="1261872"/>
            <a:ext cx="2011680" cy="3200400"/>
          </a:xfrm>
          <a:prstGeom prst="rect">
            <a:avLst/>
          </a:prstGeom>
          <a:solidFill>
            <a:srgbClr val="141D36"/>
          </a:solidFill>
          <a:ln w="12700">
            <a:solidFill>
              <a:srgbClr val="2534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261872"/>
            <a:ext cx="201168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137160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94576" y="1609344"/>
            <a:ext cx="1755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Miss Scholastic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94576" y="22402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0→Full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894576" y="3246120"/>
            <a:ext cx="175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launch  ·  100% staff self-sufficient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5760" y="46360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8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Strategy: Operations are named, numbered, documented. Data-forward credibility (metrics replace testimonials). No celebrity endorsement — outcomes speak.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SUMMARY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B3A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Summary &amp; Confidence Score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399032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system: Navy #2B3A67 / Navy Deep #1E2A4A (dominant, ~75%) + Gold #C9A96E (sole accent, all CTAs &amp; stats) + Cream/Sand (light backgrounds). Zero orange, zero red.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365760" y="1929384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105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Typography: Outfit (display, 400–800wt) + Inter (body, 300–600wt). Headlines tracking −0.03/−0.04em. Body line-height 1.6–1.8.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65760" y="2459736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4086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Logo: Rounded-square icon (navy or gold context-switch) + weighted wordmark. Gold SVG arrows on all service CTAs.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65760" y="2990088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712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personality maps to: The Strategist / Authority Figure. Methodical, evidence-obsessed, results-led. Warm but not casual.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015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identity: Grade 10–12, zero emojis, no slang. Heavy operational vocabulary. Second-person (You / Your) with We for authority.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65760" y="4050792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319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strategy: Named operations as case studies replace testimonials. Numbered frameworks replace bullet lists. Metrics replace enthusiasm.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65760" y="4581144"/>
            <a:ext cx="109728" cy="109728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4622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80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role: Problem Solver (primary) → Authority who earns trust through audit-first diagnosis → long-term systems partner.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65760" y="4681728"/>
            <a:ext cx="8412480" cy="3657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681728"/>
            <a:ext cx="73152" cy="3657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Score:  9 / 10  — Analyzed directly from index.html source, inline CSS variables, Tailwind config, and section-by-section copy.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8229600" cy="5486400"/>
          </a:xfrm>
          <a:prstGeom prst="ellipse">
            <a:avLst/>
          </a:prstGeom>
          <a:solidFill>
            <a:srgbClr val="C9A96E">
              <a:alpha val="8000"/>
            </a:srgbClr>
          </a:solidFill>
          <a:ln w="12700">
            <a:solidFill>
              <a:srgbClr val="C9A9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"The system starts with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conversation."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Salesman Solutions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337560"/>
            <a:ext cx="1371600" cy="36576"/>
          </a:xfrm>
          <a:prstGeom prst="rect">
            <a:avLst/>
          </a:prstGeom>
          <a:solidFill>
            <a:srgbClr val="C9A96E">
              <a:alpha val="40000"/>
            </a:srgbClr>
          </a:solidFill>
          <a:ln w="12700">
            <a:solidFill>
              <a:srgbClr val="C9A96E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D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Systems. Driven by Results.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JaheimSalesman@gmail.com  ·  954-830-6310  ·  Tallahassee, FL &amp; South Florida, FL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47888" y="4663440"/>
            <a:ext cx="438912" cy="438912"/>
          </a:xfrm>
          <a:prstGeom prst="rect">
            <a:avLst>
              <a:gd name="adj" fmla="val 12500"/>
            </a:avLst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7888" y="4663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Identity Analysis — Salesman Solutions</dc:title>
  <dc:subject>PptxGenJS Presentation</dc:subject>
  <dc:creator>PptxGenJS</dc:creator>
  <cp:lastModifiedBy>PptxGenJS</cp:lastModifiedBy>
  <cp:revision>1</cp:revision>
  <dcterms:created xsi:type="dcterms:W3CDTF">2026-03-08T11:08:19Z</dcterms:created>
  <dcterms:modified xsi:type="dcterms:W3CDTF">2026-03-08T11:08:19Z</dcterms:modified>
</cp:coreProperties>
</file>